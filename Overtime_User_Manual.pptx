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v1.44  |  일반 사원 전용 공식 매뉴얼</a:t>
            </a:r>
          </a:p>
          <a:p>
            <a:pPr>
              <a:spcAft>
                <a:spcPts val="18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사용자 전용 기능 매뉴얼 (v1.44)</a:t>
            </a:r>
          </a:p>
          <a:p>
            <a:pPr>
              <a:spcAft>
                <a:spcPts val="2400"/>
              </a:spcAft>
              <a:defRPr sz="1500">
                <a:solidFill>
                  <a:srgbClr val="CBD5E1"/>
                </a:solidFill>
              </a:defRPr>
            </a:pPr>
            <a:r>
              <a:t>특근 완료 확정 피드백(3단계), 100% 무기명 건의 소통함, 접속 주소 및 접속 방법, 서버 초기화 대기 안내, 사원번호 간편 입장, 스마트 달력 신청까지 누구나 쉽게 따라 할 수 있는 사용자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v1.44 (2026-09-21)  |  PC 모니터 &amp; 스마트폰(모바일) 완벽 지원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외부 접속망(HTTPS) 및 모바일 접속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외부 접속망(HTTPS) 및 모바일 전용 QR 접속 가이드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사내외 어디서나(LTE/5G/자택/PC) 지정된 외부 보안 링크와 전용 QR 코드로 간편하게 접속합니다.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338328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0120" y="1691640"/>
            <a:ext cx="2926080" cy="4114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A580C"/>
                </a:solidFill>
              </a:defRPr>
            </a:pPr>
            <a:r>
              <a:t>접속 방법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E3A8A"/>
                </a:solidFill>
              </a:defRPr>
            </a:pPr>
            <a:r>
              <a:t>1. 외부 보안 링크 접속 (PC / 태블릿)</a:t>
            </a:r>
          </a:p>
          <a:p>
            <a:pPr>
              <a:spcAft>
                <a:spcPts val="1200"/>
              </a:spcAft>
              <a:defRPr sz="1200" b="1">
                <a:solidFill>
                  <a:srgbClr val="2563EB"/>
                </a:solidFill>
              </a:defRPr>
            </a:pPr>
            <a:r>
              <a:t>▶ https://xxxx.trycloudflare.com</a:t>
            </a:r>
            <a:br/>
            <a:r>
              <a:t>(관리자 발급 공식 외부 보안 링크)</a:t>
            </a:r>
          </a:p>
          <a:p>
            <a:pPr>
              <a:lnSpc>
                <a:spcPct val="135000"/>
              </a:lnSpc>
              <a:defRPr sz="1150">
                <a:solidFill>
                  <a:srgbClr val="0F172A"/>
                </a:solidFill>
              </a:defRPr>
            </a:pPr>
            <a:r>
              <a:t>• 사내외 어디서나 PC 및 노트북 웹브라우저(Chrome, Edge 권장) 주소창에 보안 HTTPS 링크를 입력하여 접속합니다.</a:t>
            </a:r>
            <a:br/>
            <a:r>
              <a:t>• 별도의 사내망 연결이나 VPN 설치 없이 24시간 안전한 전송 구간 암호화(HTTPS) 터널을 통해 어디서든 열립니다.</a:t>
            </a:r>
            <a:br/>
            <a:r>
              <a:t>• 브라우저 상단 즐겨찾기(북마크 ★)에 등록해 두시면 매번 주소를 입력하지 않고 원클릭으로 즉시 접속됩니다.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08760"/>
            <a:ext cx="338328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17720" y="1691640"/>
            <a:ext cx="2926080" cy="4114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A580C"/>
                </a:solidFill>
              </a:defRPr>
            </a:pPr>
            <a:r>
              <a:t>접속 방법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945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E3A8A"/>
                </a:solidFill>
              </a:defRPr>
            </a:pPr>
            <a:r>
              <a:t>2. 외부 모바일 QR 스캔 접속</a:t>
            </a:r>
          </a:p>
          <a:p>
            <a:pPr>
              <a:spcAft>
                <a:spcPts val="1200"/>
              </a:spcAft>
              <a:defRPr sz="1200" b="1">
                <a:solidFill>
                  <a:srgbClr val="2563EB"/>
                </a:solidFill>
              </a:defRPr>
            </a:pPr>
            <a:r>
              <a:t>▶ 화면 상단 [📱 모바일 QR] 스캔</a:t>
            </a:r>
            <a:br/>
            <a:r>
              <a:t>(스마트폰 LTE / 5G 전용)</a:t>
            </a:r>
          </a:p>
          <a:p>
            <a:pPr>
              <a:lnSpc>
                <a:spcPct val="135000"/>
              </a:lnSpc>
              <a:defRPr sz="1150">
                <a:solidFill>
                  <a:srgbClr val="0F172A"/>
                </a:solidFill>
              </a:defRPr>
            </a:pPr>
            <a:r>
              <a:t>• 스마트폰 기본 카메라 앱을 켜고 화면 상단 [📱 모바일 접속 QR]을 비추면 외부망 접속 링크가 즉시 나타납니다.</a:t>
            </a:r>
            <a:br/>
            <a:r>
              <a:t>• 사내 Wi-Fi 연결 여부와 상관없이 LTE/5G 데이터망으로 언제 어디서나 이동 중에도 특근 신청 및 조회가 가능합니다.</a:t>
            </a:r>
            <a:br/>
            <a:r>
              <a:t>• 스마트폰에서 신청한 내역은 PC 관리자 화면 및 대시보드와 100% 실시간 동일하게 동기화됩니다.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0" y="1691640"/>
            <a:ext cx="2926080" cy="4114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A580C"/>
                </a:solidFill>
              </a:defRPr>
            </a:pPr>
            <a:r>
              <a:t>접속 방법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E3A8A"/>
                </a:solidFill>
              </a:defRPr>
            </a:pPr>
            <a:r>
              <a:t>3. 스마트폰 홈 화면 추가 (앱 모드)</a:t>
            </a:r>
          </a:p>
          <a:p>
            <a:pPr>
              <a:spcAft>
                <a:spcPts val="1200"/>
              </a:spcAft>
              <a:defRPr sz="1200" b="1">
                <a:solidFill>
                  <a:srgbClr val="2563EB"/>
                </a:solidFill>
              </a:defRPr>
            </a:pPr>
            <a:r>
              <a:t>▶ 브라우저 메뉴 ▶ [홈 화면에 추가]</a:t>
            </a:r>
            <a:br/>
            <a:r>
              <a:t>(바탕화면 원클릭 간편 실행)</a:t>
            </a:r>
          </a:p>
          <a:p>
            <a:pPr>
              <a:lnSpc>
                <a:spcPct val="135000"/>
              </a:lnSpc>
              <a:defRPr sz="1150">
                <a:solidFill>
                  <a:srgbClr val="0F172A"/>
                </a:solidFill>
              </a:defRPr>
            </a:pPr>
            <a:r>
              <a:t>• 스마트폰 브라우저 메뉴에서 [홈 화면에 추가]를 터치하시면 스마트폰 바탕화면에 전용 앱 아이콘이 생성됩니다.</a:t>
            </a:r>
            <a:br/>
            <a:r>
              <a:t>• 매번 주소를 치거나 QR을 찍을 필요 없이 앱처럼 터치 한 번으로 1초 만에 시스템에 바로 입장할 수 있습니다.</a:t>
            </a:r>
            <a:br/>
            <a:r>
              <a:t>• 로그인 세션이 안전하게 유지되어 언제든 빠르게 본인 특근 일정과 승인 도장을 확인하실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최초 접속 및 서버 리부팅 시 초기화 대기 안내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서버 최초 기동 또는 리부팅 직후에는 약 10~20초 동안 안전 초기화가 진행되므로 잠시 기다려주세요.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외부 보안 접속 주소 입력 &amp; 연결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배포된 외부 보안 링크(HTTPS)를 브라우저에 입력하여 첫 접속을 시작합니다.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약 10~20초 초기 구동 대기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서버 최초 기동 또는 PC 리부팅 직후 1회에 한해 보안 터널 및 DB 초기화(약 10~20초) 대기 시간이 발생합니다.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DB 무결성 &amp; 자동 백업 진행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데이터 유실 방지를 위한 SQLite WAL 무결성 검증 및 백업이 안전하게 수행됩니다.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새로고침(F5) 연타 금지!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외부망 연결 초기화 중 새로고침을 연타하지 마시고 잠시 대기하시면 로그인 화면으로 자동 전환됩니다.</a:t>
            </a:r>
          </a:p>
        </p:txBody>
      </p:sp>
      <p:pic>
        <p:nvPicPr>
          <p:cNvPr id="5" name="Picture 4" descr="mockup_server_i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사원번호로 간편 입장하기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비밀번호 없이 사원번호 6자리 입력만으로 빠르고 안전하게 입장합니다.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v1.44 최신 버전 배지 확인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화면 오른쪽 위에 파란색 [v1.43] 배지가 보이면 최신 버전입니다. 클릭 시 신규 릴리즈 이력이 표시됩니다.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사원번호 6자리 숫자 입력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본인의 6자리 사원번호를 입력창에 기재합니다. 복잡한 비밀번호 없이 빠르게 입장 가능합니다.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[입장하기] 원클릭 이동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입력 후 [입장하기]를 누르면 등록된 이름과 소속팀이 자동 확인되어 대시보드로 즉시 입장합니다.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미등록 사번 1초 즉시 등록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처음 방문한 사번은 신규 등록창이 나타나며, 성명과 소속 부서를 선택하면 즉시 등록되어 입장합니다.</a:t>
            </a:r>
          </a:p>
        </p:txBody>
      </p:sp>
      <p:pic>
        <p:nvPicPr>
          <p:cNvPr id="5" name="Picture 4" descr="mockup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재입장(재접속) 시 핵심 유의사항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다시 접속(재입장)할 때 꼭 알아두어야 할 4대 핵심 가이드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사번 자동 완성, 멀티 디바이스 실시간 동기화, 최신 상태 갱신 및 공용 PC 보안 수칙을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유의사항 01  |  1. 사원번호 자동 완성 (원클릭 재입장)</a:t>
            </a:r>
          </a:p>
          <a:p>
            <a:pPr>
              <a:lnSpc>
                <a:spcPct val="130000"/>
              </a:lnSpc>
              <a:defRPr sz="1150">
                <a:solidFill>
                  <a:srgbClr val="0F172A"/>
                </a:solidFill>
              </a:defRPr>
            </a:pPr>
            <a:r>
              <a:t>• 브라우저 로컬 저장소(LocalStorage)에 직전에 로그인했던 본인 사번 6자리가 안전하게 기억됩니다.</a:t>
            </a:r>
            <a:br/>
            <a:r>
              <a:t>• 창을 닫았다가 다시 열었을 때 사번을 재입력할 필요 없이 [입장하기] 버튼만 누르면 1초 만에 바로 진입합니다.</a:t>
            </a:r>
            <a:br/>
            <a:r>
              <a:t>• 다른 사번으로 로그인해야 할 때는 입력창의 숫자를 지우고 새 사번을 입력하시면 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0876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유의사항 02  |  2. PC ↔ 스마트폰 실시간 100% 동기화</a:t>
            </a:r>
          </a:p>
          <a:p>
            <a:pPr>
              <a:lnSpc>
                <a:spcPct val="130000"/>
              </a:lnSpc>
              <a:defRPr sz="1150">
                <a:solidFill>
                  <a:srgbClr val="0F172A"/>
                </a:solidFill>
              </a:defRPr>
            </a:pPr>
            <a:r>
              <a:t>• 스마트폰(모바일)에서 신청한 내역을 회사 PC에서 열어도, 반대로 PC에서 신청한 내역을 폰에서 열어도 동일합니다.</a:t>
            </a:r>
            <a:br/>
            <a:r>
              <a:t>• 중앙 데이터베이스(data/overtime.db)를 실시간 공유하므로 어떤 기기에서 재입장하더라도 본인 데이터가 완벽 유지됩니다.</a:t>
            </a:r>
            <a:br/>
            <a:r>
              <a:t>• 기기를 교체하더라도 회원가입 없이 본인 사번만 입력하면 기존 내역을 즉시 조회할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6908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유의사항 03  |  3. 재입장 시 [새로고침] 1회 권장 (상태 동기화)</a:t>
            </a:r>
          </a:p>
          <a:p>
            <a:pPr>
              <a:lnSpc>
                <a:spcPct val="130000"/>
              </a:lnSpc>
              <a:defRPr sz="1150">
                <a:solidFill>
                  <a:srgbClr val="0F172A"/>
                </a:solidFill>
              </a:defRPr>
            </a:pPr>
            <a:r>
              <a:t>• 브라우저 탭을 백그라운드에 켜두었거나 다시 접속했을 때는 화면 상단 [🔄 새로고침] 버튼 또는 F5를 1회 눌러주세요.</a:t>
            </a:r>
            <a:br/>
            <a:r>
              <a:t>• 부서 관리자가 승인 도장을 새로 찍었거나 팀원 일정이 변경되었을 때 1초 만에 최신 상태로 화면이 새로고침됩니다.</a:t>
            </a:r>
            <a:br/>
            <a:r>
              <a:t>• 네트워크 일시 지연이 발생할 때도 상단 새로고침 버튼을 누르면 즉시 정상 회복됩니다.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6908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20624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유의사항 04  |  4. 공용 PC 보안 수칙 &amp; 중복 신청 방지 유의</a:t>
            </a:r>
          </a:p>
          <a:p>
            <a:pPr>
              <a:lnSpc>
                <a:spcPct val="130000"/>
              </a:lnSpc>
              <a:defRPr sz="1150">
                <a:solidFill>
                  <a:srgbClr val="0F172A"/>
                </a:solidFill>
              </a:defRPr>
            </a:pPr>
            <a:r>
              <a:t>• 회의실, 공용 작업장 PC 등 여러 사람이 함께 쓰는 PC에서는 본인 신청 후 반드시 브라우저 탭을 닫아주세요.</a:t>
            </a:r>
            <a:br/>
            <a:r>
              <a:t>• 다른 동료가 연이어 사용할 때는 사원번호 입력창에 본인 사번을 새로 덮어쓰고 입장하도록 안내합니다.</a:t>
            </a:r>
            <a:br/>
            <a:r>
              <a:t>• 동일한 날짜에는 시스템이 중복 신청을 사전에 원천 차단하므로, 날짜 변경 시에는 '내 신청 내역'에서 [수정] 버튼을 이용하세요.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스마트 달력 기반 특근 신청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일반휴일 및 이번 주 토요일이 기본 선택되어 몇 초 만에 신청이 완료됩니다.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[일반휴일] 기본 선택 &amp; 토요일 자동 세팅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주말 특근에 가장 많이 쓰이는 '일반휴일'이 디폴트로 선택되며, 시작일/종료일이 이번 주 토요일로 자동 설정됩니다.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시작일/종료일 상호 자동 동기화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시작일(또는 종료일)을 선택하면 다른 날짜도 동일하게 자동 변경되며, 이후 두 번째 날짜를 변경해 2단계로 자유롭게 범위를 설정합니다.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프로젝트번호/장소/사유 입력 가이드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프로젝트번호(예: BT2601-L1), 근무장소(예: 본사5층), 특근사유(예: 프로그램 개발) 예시 가이드가 기본 제공됩니다.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달력 인터랙티브 날짜 선택 &amp; 중복 방지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오른쪽 달력에서 날짜를 터치하여 선택할 수 있으며, 동일한 날짜에 중복 신청하는 실수를 사전에 원천 차단합니다.</a:t>
            </a:r>
          </a:p>
        </p:txBody>
      </p:sp>
      <p:pic>
        <p:nvPicPr>
          <p:cNvPr id="5" name="Picture 4" descr="mockup_a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06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나의 특근 신청 내역 및 다차원 검색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다양한 검색 조건과 개인 달력 뷰로 본인의 특근 일정을 편리하게 확인합니다.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실시간 검색 결과 통계 요약 바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검색 조건에 맞춰 총 건수(총 일수), 승인완료/대기 건수, 일반/법정/대체근무별 수량이 미니 통계 칩으로 실시간 집계 표시됩니다.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다차원 검색 필터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조회기간, 특근구분, 승인상태 및 프로젝트/장소/사유 통합 키워드 검색으로 원하는 특근을 즉시 찾습니다.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목록 보기 ↔ 개인 달력 보기 전환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신청 내역을 카드 리스트 형태뿐만 아니라 개인 전용 월간 달력 형태로도 한눈에 확인할 수 있습니다.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승인 상태 및 대체휴일 명확 표시 &amp; 수정/취소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관리자 승인 시 [✓ 확인완료] 표시, 대휴 일수 안내, 일정 변경 시 [수정], 취소 시 [삭제] 및 이력이 안전 보존됩니다.</a:t>
            </a:r>
          </a:p>
        </p:txBody>
      </p:sp>
      <p:pic>
        <p:nvPicPr>
          <p:cNvPr id="5" name="Picture 4" descr="mockup_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07  |  특근 4단계 라이프사이클 &amp; 사원 [확정] 피드백 (v1.44 신규)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특근 4단계 라이프사이클 &amp; 완료 후 [확정] 피드백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신청(1단계) ➔ 승인(2단계) ➔ 사원 확정(3단계) ➔ 관리자 검토완료(4단계)로 이어지는 투명한 특근 관리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절차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특근 4단계 라이프사이클 체계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1단계 [신청]: 본인이 특근 일정을 등록한 대기 상태</a:t>
            </a:r>
            <a:br/>
            <a:r>
              <a:t>• 2단계 [승인]: 부서 관리자가 계획을 승인한 상태</a:t>
            </a:r>
            <a:br/>
            <a:r>
              <a:t>• 3단계 [확정]: 실제 휴일 특근을 수행 완료했음을 피드백</a:t>
            </a:r>
            <a:br/>
            <a:r>
              <a:t>• 4단계 [검토완료]: 관리자가 최종 마감 처리한 공인 상태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절차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사원의 [🎯 특근완료 확정] 피드백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주말/휴일 특근을 실제로 마치면 '내 신청 내역'으로 이동합니다.</a:t>
            </a:r>
            <a:br/>
            <a:r>
              <a:t>• 승인된 특근 카드 우측에 나타나는 [🎯 특근완료 확정] 버튼을 클릭!</a:t>
            </a:r>
            <a:br/>
            <a:r>
              <a:t>• '실제 특근을 완료하여 확정하시겠습니까?' 확인 시 즉시 확정 상태로 전환됩니다.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절차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진행상태 배지 &amp; 최종특근일 반영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확정 즉시 카드 상단에 주황색 [🎯 3단계:확정] 배지가 부여됩니다.</a:t>
            </a:r>
            <a:br/>
            <a:r>
              <a:t>• 관리자 화면 및 정산 엑셀 파일의 [확정단계 (일)]에 실시간 반영되어 정산 누락을 방지합니다.</a:t>
            </a:r>
            <a:br/>
            <a:r>
              <a:t>• 관리자의 최종 검토가 끝나면 [🟣 4단계:검토완료]로 최종 종결됩니다.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08  |  사원 전용 100% 무기명 건의사항 소통함 (v1.44 신규)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100% 무기명 건의사항 소통함 및 공식 답변 피드백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사번/성명 일체 미수집 원칙! 사원들의 솔직한 불편사항과 개선 요청을 자유롭게 나눕니다.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소통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100% 완전 무기명(익명) 보장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시스템 DB에 사원번호, 성명, IP 등 작성자 식별 정보를 일체 저장하지 않습니다.</a:t>
            </a:r>
            <a:br/>
            <a:r>
              <a:t>• 누구의 눈치도 볼 필요 없이 시스템 오류, 근무환경 개선, 건의사항을 자유롭게 작성할 수 있습니다.</a:t>
            </a:r>
            <a:br/>
            <a:r>
              <a:t>• 오직 건의 내용과 접수 일시만 등록되므로 안심하고 이용하세요.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소통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[💡 건의사항 소통함] 원클릭 등록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화면 우측 상단의 [💡 건의사항 소통함] 버튼을 클릭합니다.</a:t>
            </a:r>
            <a:br/>
            <a:r>
              <a:t>• 분류(시스템 개선, 오류/버그 신고, 근무환경/복지, 기타)를 선택하고 제목과 내용을 작성합니다.</a:t>
            </a:r>
            <a:br/>
            <a:r>
              <a:t>• [💡 무기명 건의 접수하기] 버튼을 누르면 1초 만에 즉시 등록됩니다.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소통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실시간 접수 목록 &amp; 관리자 답변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등록된 모든 건의사항은 소통함 모달 하단 목록에서 실시간으로 투명하게 열람됩니다.</a:t>
            </a:r>
            <a:br/>
            <a:r>
              <a:t>• 관리자가 조치 상태(접수완료, 검토중, 처리완료, 보류)를 갱신하고 공식 답변을 등록합니다.</a:t>
            </a:r>
            <a:br/>
            <a:r>
              <a:t>• 사원들의 목소리가 실제 시스템 및 부서 운영 개선에 즉각 반영됩니다.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09  |  스마트폰 모바일 및 외부망 접속 심화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및 외부망(LTE/5G/사외) 스마트 활용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PC 앞이 아니어도 스마트폰으로 특근을 신청하고 실시간 승인 현황을 확인할 수 있습니다.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외부 접속용 모바일 QR 확인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화면 상단 [📱 모바일 접속 QR]을 누르면 스마트폰 카메라(LTE/5G)로 즉시 스캔 가능한 외부망 전용 QR 코드가 표시됩니다.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암호화(HTTPS) 보안 터널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외부 보안 터널(Cloudflare)을 통해 모든 통신이 전송 암호화(SSL/TLS)되어 사외에서도 안전하게 신청할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세션 유지 &amp; 홈 화면 추가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스마트폰 브라우저에서 '홈 화면에 추가'를 누르면 전용 앱처럼 등록되며 24시간 언제 어디서든 즉시 접속됩니다.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사용자 자주 묻는 질문 답변 (v1.44)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사용자 꿀팁 총정리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궁금한 사항이 있으실 때는 언제든 상단의 [📖 사용자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0817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Q1. 외부 접속망 주소와 모바일 접속 방법은 어떻게 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관리자가 배포한 외부 보안 주소(https://xxxx.trycloudflare.com)로 접속하거나, 화면 상단 [모바일 접속 QR]을 스마트폰 카메라로 스캔하여 LTE/5G 어디서나 간편하게 접속합니다.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4825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Q2. 서버 리부팅 직후 접속이 왜 바로 안 되고 로딩이 도나요?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서버 최초 기동 및 리부팅 시에는 데이터베이스 무결성 검증과 자동 백업 생성을 위해 약 10~20초 초기화가 진행되니 새로고침 연타 없이 잠시 대기해주세요.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8833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Q3. 재입장할 때 사번을 매번 다시 입력해야 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아닙니다. 브라우저가 사번을 안전하게 기억하고 있으므로 [입장하기] 버튼만 누르면 1초 만에 바로 입장됩니다.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2841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Q4. 스마트폰 모바일에서 신청해도 회사 PC와 연동되나요?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네, 모바일과 PC는 동일한 중앙 데이터베이스를 공유하므로 사번만 넣으면 100% 실시간 자동 연동됩니다.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6849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Q5. 실수로 같은 날짜에 중복 신청하면 어떻게 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시스템에서 동일 날짜 중복 신청을 사전에 감지하여 경고창과 함께 안전하게 차단하므로 안심하셔도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0857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Q6. 관리자 승인 여부를 실시간으로 어떻게 확인하나요?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'내 신청 내역' 카드에서 초록색 [✓ 확인완료] 도장을 확인하실 수 있으며, 상단 [새로고침]을 누르면 실시간 반영됩니다.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21207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4865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Q7. 실제 특근 후 [🎯 특근완료 확정] 버튼은 언제 누르나요?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관리자가 사전 승인한 특근에 대해 실제 휴일 근무를 마친 후 '내 신청 내역'에서 [🎯 특근완료 확정]을 누르면 관리자에게 완료 피드백이 전송됩니다.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85215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8873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Q8. 건의사항 소통함은 정말로 작성자가 누구인지 알 수 없나요?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네, 100% 무기명입니다! 데이터베이스에 사번, 성명, IP 등 사용자 식별 컬럼이 아예 존재하지 않도록 설계되어 절대 추적되지 않습니다.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